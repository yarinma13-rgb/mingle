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6032" y="201168"/>
            <a:ext cx="11676888" cy="6455664"/>
          </a:xfrm>
          <a:prstGeom prst="roundRect">
            <a:avLst/>
          </a:prstGeom>
          <a:solidFill>
            <a:srgbClr val="F8F4FC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ngl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815154" cy="777240"/>
          </a:xfrm>
          <a:prstGeom prst="rect">
            <a:avLst/>
          </a:prstGeom>
        </p:spPr>
      </p:pic>
      <p:pic>
        <p:nvPicPr>
          <p:cNvPr id="6" name="Picture 5" descr="fou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5029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ירין כהן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8229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86000"/>
            <a:ext cx="85039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mingle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Beyond the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40480"/>
            <a:ext cx="7589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שכבת הקשר בין אנשים לחברות, לפני שהחיבור הופך להעסקה.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436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Future of Work · Mutual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943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SaaS · Seed stage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הרעיון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mingle היא שכבת הקשר לפני ההעסקה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לא עוד מנוע חיפוש למועמדים. Relationship layer שמחברת אנשים וחברות כשההבנה עדיין חשובה יותר מההחלטה.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30271" y="274320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5991" y="29077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People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5991" y="320040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אנשים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4167" y="315925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68215" y="274320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3935" y="29077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3935" y="320040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הבנה הדדית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2111" y="315925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6159" y="274320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1879" y="29077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1879" y="320040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Mutual Matching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60055" y="315925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4103" y="274320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9823" y="290779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Employment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9823" y="320040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העסקה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114800"/>
            <a:ext cx="6309360" cy="118872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297680"/>
            <a:ext cx="5943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לפני שמחליטים, צריך להבין אם באמת קיים Fit.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754880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בין האדם, התפקיד והחברה.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הבעיה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מה שרואים לפני הגיוס ≠ מה שמתגלה אחרי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CV וראיון מספרים חלק מהסיפור. המציאות בעבודה מספרת סיפור אחר.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42062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3E6BE0"/>
                </a:solidFill>
                <a:latin typeface="Figtree"/>
                <a:ea typeface="Figtree"/>
                <a:cs typeface="Figtree"/>
              </a:rPr>
              <a:t>לפני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מה שרואים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15468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65760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033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Interview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16052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Keywords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66344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Impression</a:t>
            </a:r>
          </a:p>
        </p:txBody>
      </p:sp>
      <p:sp>
        <p:nvSpPr>
          <p:cNvPr id="18" name="Oval 17"/>
          <p:cNvSpPr/>
          <p:nvPr/>
        </p:nvSpPr>
        <p:spPr>
          <a:xfrm>
            <a:off x="5623560" y="3383280"/>
            <a:ext cx="914400" cy="91440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3611880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434840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How did we get from this to this?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2194560"/>
            <a:ext cx="42062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33172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EA1E63"/>
                </a:solidFill>
                <a:latin typeface="Figtree"/>
                <a:ea typeface="Figtree"/>
                <a:cs typeface="Figtree"/>
              </a:rPr>
              <a:t>אחרי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65176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מה שמתגלה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15468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32004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Work style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365760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70332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Motivation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16052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42062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Values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4663440"/>
            <a:ext cx="3657600" cy="4114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7091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Day to day Reality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CV + Interview ≠ Reality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הם שימושיים. הם פשוט לא שלמים.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CV וראיון מספרים מה אדם עשה ומה הוא יודע להציג. הם לא בהכרח מספרים איך האדם והחברה יעבדו יחד בפועל.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3E6BE0"/>
                </a:solidFill>
                <a:latin typeface="Figtree"/>
                <a:ea typeface="Figtree"/>
                <a:cs typeface="Figtree"/>
              </a:rPr>
              <a:t>Useful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3063240" cy="12801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היסטוריה, כישורים, הישגים. אותות חשובים על מה שנעשה.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28600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46888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Useful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880360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429000"/>
            <a:ext cx="3063240" cy="12801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נוכחות, חשיבה, תקשורת. אותות חשובים על איך מספרים את הסיפור.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2286000"/>
            <a:ext cx="3520440" cy="274320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199" y="246888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EA1E63"/>
                </a:solidFill>
                <a:latin typeface="Figtree"/>
                <a:ea typeface="Figtree"/>
                <a:cs typeface="Figtree"/>
              </a:rPr>
              <a:t>Missing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2880360"/>
            <a:ext cx="306324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Fit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199" y="3429000"/>
            <a:ext cx="3063240" cy="12801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איך האדם, התפקיד והחברה באמת יעבדו יחד. שכבת ההבנה שחסרה לפני החיבור.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394960"/>
            <a:ext cx="5212080" cy="41148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B2FF7"/>
                </a:solidFill>
                <a:latin typeface="Figtree"/>
              </a:rPr>
              <a:t>They are useful. They are just incomplete.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הפתרון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Mutual Matching בשלוש שכבות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לא עוד אלגוריתם התאמה שחור. שלוש שכבות שמסבירות למה החיבור הגיוני, ומה עדיין צריך לבדוק.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5740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B2FF7"/>
                </a:solidFill>
                <a:latin typeface="Figtree"/>
              </a:rPr>
              <a:t>Mutual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520440" cy="26517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3520440" cy="109728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306324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Role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יכולים?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3063240" cy="10058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כישורים, ניסיון, דרישות התפקיד והאותות השקטים שבמשרה.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651760"/>
            <a:ext cx="3520440" cy="265176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59" y="2651760"/>
            <a:ext cx="3520440" cy="109728"/>
          </a:xfrm>
          <a:prstGeom prst="rect">
            <a:avLst/>
          </a:prstGeom>
          <a:solidFill>
            <a:srgbClr val="3E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92608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3E6BE0"/>
                </a:solidFill>
                <a:latin typeface="Figtree"/>
                <a:ea typeface="Figtree"/>
                <a:cs typeface="Figtre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246120"/>
            <a:ext cx="306324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Human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657600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ישגשגו?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069080"/>
            <a:ext cx="3063240" cy="10058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סגנון עבודה, תרבות, סביבה ואופן העבודה המשותף.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599" y="2651760"/>
            <a:ext cx="3520440" cy="265176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599" y="2651760"/>
            <a:ext cx="3520440" cy="109728"/>
          </a:xfrm>
          <a:prstGeom prst="rect">
            <a:avLst/>
          </a:prstGeom>
          <a:solidFill>
            <a:srgbClr val="EA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199" y="2926080"/>
            <a:ext cx="30632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EA1E63"/>
                </a:solidFill>
                <a:latin typeface="Figtree"/>
                <a:ea typeface="Figtree"/>
                <a:cs typeface="Figtre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3246120"/>
            <a:ext cx="306324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2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Motivation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199" y="3657600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רוצים?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99" y="4069080"/>
            <a:ext cx="3063240" cy="10058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מטרות, ערכים, כיוון קריירה ומה באמת מניע את האדם.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669280"/>
            <a:ext cx="9418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כל שכבה מוסיפה הבנה אחרת. יחד הן בונות תמונת Fit שלמה יותר.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Why this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לא רק שיש Match. להבין למה.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הציון הוא נקודת כניסה. ההסבר הוא מה שבונה אמון ומאפשר שיחה טובה יותר.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84048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2468880"/>
            <a:ext cx="1737360" cy="1737360"/>
          </a:xfrm>
          <a:prstGeom prst="ellipse">
            <a:avLst/>
          </a:prstGeom>
          <a:solidFill>
            <a:srgbClr val="F1E8FE"/>
          </a:solidFill>
          <a:ln w="31750">
            <a:solidFill>
              <a:srgbClr val="7B2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17373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94%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Role · Human · Motivation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F4F1FA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Role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12064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F4F1FA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516636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Human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120640"/>
            <a:ext cx="1051560" cy="640080"/>
          </a:xfrm>
          <a:prstGeom prst="roundRect">
            <a:avLst>
              <a:gd name="adj" fmla="val 10000"/>
            </a:avLst>
          </a:prstGeom>
          <a:solidFill>
            <a:srgbClr val="F4F1FA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5166360"/>
            <a:ext cx="1051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440680"/>
            <a:ext cx="1051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Motivation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2148840"/>
            <a:ext cx="676656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2286000"/>
            <a:ext cx="63093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Why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269748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274320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Skills: התאמה חזקה לדרישות הליבה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69748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74320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Experience: מסלול רלוונטי בשלב חברה דומה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320040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324612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Work style: סגנון עבודה שמתחבר לצוות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20040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324612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Goals: כיוון קריירה מיושר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370332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74904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Values: ערכים משותפים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703320"/>
            <a:ext cx="3017520" cy="438912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749040"/>
            <a:ext cx="2834640" cy="347472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Motivation: מה שמניע את האדם קיים בתפקיד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0" y="4617720"/>
            <a:ext cx="6766560" cy="1371600"/>
          </a:xfrm>
          <a:prstGeom prst="roundRect">
            <a:avLst>
              <a:gd name="adj" fmla="val 10000"/>
            </a:avLst>
          </a:prstGeom>
          <a:solidFill>
            <a:srgbClr val="FAF6F2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4754880"/>
            <a:ext cx="63093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C47A5A"/>
                </a:solidFill>
                <a:latin typeface="Figtree"/>
                <a:ea typeface="Figtree"/>
                <a:cs typeface="Figtree"/>
              </a:rPr>
              <a:t>Potential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07492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Salary expectations: פער קל מול תקציב המשרה.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07492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Location: העדפת עבודה מרחוק מול מודל היברידי.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Product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מהגילוי למערכת יחסים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המוצר לא נגמר בציון. הוא מלווה את התהליך מהרגע שבו עדיין לא מכירים, עד שיש שפה משותפת.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246888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2367" y="263347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292608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גילוי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9103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3151" y="246888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8871" y="263347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Understand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8871" y="292608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הבנה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5607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9655" y="246888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5375" y="263347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375" y="292608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התאמה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111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6159" y="246888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1879" y="263347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Connect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292608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חיבור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8615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52663" y="246888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8383" y="263347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8383" y="292608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למידה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5119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99167" y="246888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4887" y="263347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Relationship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4887" y="292608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מערכת יחסים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93192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11480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Signal 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52628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פרופילים, משרות ואותות אמיתיים נכנסים למערכת.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999" y="393192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411480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Explained match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452628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שני הצדדים רואים למה יש Fit ומה כדאי לבדוק.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39" y="393192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411480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Learning loop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452628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תוצאות שיחה והחלטות מלמדות את המערכת קדימה.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מסכים אמיתיים מהמוצר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Strong Matches עם הסבר. לא עוד ערמת קורות חיים.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937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mingle · Role Matches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43200"/>
            <a:ext cx="4937760" cy="777240"/>
          </a:xfrm>
          <a:prstGeom prst="roundRect">
            <a:avLst>
              <a:gd name="adj" fmla="val 10000"/>
            </a:avLst>
          </a:prstGeom>
          <a:solidFill>
            <a:srgbClr val="F4F1FA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Noa Levi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Product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97180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97%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611880"/>
            <a:ext cx="4937760" cy="777240"/>
          </a:xfrm>
          <a:prstGeom prst="roundRect">
            <a:avLst>
              <a:gd name="adj" fmla="val 10000"/>
            </a:avLst>
          </a:prstGeom>
          <a:solidFill>
            <a:srgbClr val="F4F1FA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7490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Jordan Hayes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2336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Product Designer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84048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95%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80560"/>
            <a:ext cx="4937760" cy="777240"/>
          </a:xfrm>
          <a:prstGeom prst="roundRect">
            <a:avLst>
              <a:gd name="adj" fmla="val 10000"/>
            </a:avLst>
          </a:prstGeom>
          <a:solidFill>
            <a:srgbClr val="F4F1FA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17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Yael Naveh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9204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Product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0916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44068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רשימה קצרה עם ציון והקשר. לא 247 מועמדים בלי הבנה.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48840"/>
            <a:ext cx="521208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28600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mingle · Why this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69748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Why this 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6517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24612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Role Fit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538728"/>
            <a:ext cx="3931920" cy="146304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37960" y="3538728"/>
            <a:ext cx="3617366" cy="146304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324612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721608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כישורים וניסיון מיושרים לדרישות התפקיד.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11480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Human Fit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4407408"/>
            <a:ext cx="3931920" cy="146304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37960" y="4407408"/>
            <a:ext cx="3420770" cy="146304"/>
          </a:xfrm>
          <a:prstGeom prst="roundRect">
            <a:avLst/>
          </a:prstGeom>
          <a:solidFill>
            <a:srgbClr val="3E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61320" y="411480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590288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סגנון עבודה ותרבות מצביעים על עבודה משותפת טובה.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98348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Motivation Fit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5276088"/>
            <a:ext cx="3931920" cy="146304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37960" y="5276088"/>
            <a:ext cx="3696004" cy="146304"/>
          </a:xfrm>
          <a:prstGeom prst="roundRect">
            <a:avLst/>
          </a:prstGeom>
          <a:solidFill>
            <a:srgbClr val="EA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498348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94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458968"/>
            <a:ext cx="46634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מטרות וערכים מצביעים על כיוון משותף.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Candidate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לא רק עוד תהליך גיוס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המועמד מבין טוב יותר מה מתאים לו, ומה החברה באמת מחפשת, לפני שהוא נכנס לשיחה.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11299" y="246888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57019" y="263347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7019" y="292608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מועמד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5195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9243" y="246888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4963" y="263347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Discover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4963" y="292608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גילוי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3139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87187" y="246888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2907" y="263347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2907" y="292608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הבנה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1083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25131" y="246888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0851" y="263347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0851" y="292608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התאמה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79027" y="288493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075" y="246888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8795" y="2633472"/>
            <a:ext cx="1325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Connect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8795" y="2926080"/>
            <a:ext cx="1325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חיבור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93192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11480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Clarity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2628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רואים למה תפקיד מתאים, ולא רק שהאלגוריתם החליט.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1999" y="393192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411480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Agency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452628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מדברים כשיש עניין הדדי. פחות פניות קרות, יותר כוונה.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39" y="3931920"/>
            <a:ext cx="3520440" cy="15544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411480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Respect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19" y="4526280"/>
            <a:ext cx="3154680" cy="7315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Potential gaps גלויים לשני הצדדים. שקיפות במקום הפתעות.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Recruiter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לא רק יותר מועמדים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הערך לחברה הוא איכות הסיגנל, לא נפח. פחות סינון ידני, יותר שיחות נכונות.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2148840" cy="320040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Better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1874519" cy="1371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פחות רעש. יותר אנשים שבאמת שווה לדבר איתם.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377440"/>
            <a:ext cx="2148840" cy="320040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06040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1752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Better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94760"/>
            <a:ext cx="1874519" cy="1371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הבנה של Fit לפני שמבזבזים סבבי ראיונות.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377440"/>
            <a:ext cx="2148840" cy="320040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606040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01752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Better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794760"/>
            <a:ext cx="1874519" cy="1371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Role, Human וMotivation יחד, לא רק מילות מפתח.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377440"/>
            <a:ext cx="2148840" cy="320040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2606040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301752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Better conversations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3794760"/>
            <a:ext cx="1874519" cy="1371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שיחה ראשונה שמתחילה מנקודות ברורות לבדיקה.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377440"/>
            <a:ext cx="2148840" cy="320040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2606040"/>
            <a:ext cx="1874519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017520"/>
            <a:ext cx="1874519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Better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3794760"/>
            <a:ext cx="1874519" cy="1371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החלטות שמבוססות על הבנה, לא רק על רושם ראשוני.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שכבת Insights לגיוס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Dashboard שמרגיש כמו מוצר SaaS: דפוסים, מקורות, Match patterns ונקודות נטישה.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64008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Recruitment funnel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33172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7B2FF7"/>
                </a:solidFill>
                <a:latin typeface="Figtree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Discover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80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100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00400"/>
            <a:ext cx="5760720" cy="164592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200400"/>
            <a:ext cx="5760720" cy="164592"/>
          </a:xfrm>
          <a:prstGeom prst="roundRect">
            <a:avLst/>
          </a:prstGeom>
          <a:solidFill>
            <a:srgbClr val="EA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661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566160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5760720" cy="164592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3840480"/>
            <a:ext cx="2419502" cy="164592"/>
          </a:xfrm>
          <a:prstGeom prst="round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0624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4206240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480560"/>
            <a:ext cx="5760720" cy="164592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480560"/>
            <a:ext cx="1036929" cy="164592"/>
          </a:xfrm>
          <a:prstGeom prst="roundRect">
            <a:avLst/>
          </a:prstGeom>
          <a:solidFill>
            <a:srgbClr val="3E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46319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Interview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846319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120639"/>
            <a:ext cx="5760720" cy="164592"/>
          </a:xfrm>
          <a:prstGeom prst="round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5120639"/>
            <a:ext cx="460857" cy="164592"/>
          </a:xfrm>
          <a:prstGeom prst="roundRect">
            <a:avLst/>
          </a:prstGeom>
          <a:solidFill>
            <a:srgbClr val="656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32120"/>
            <a:ext cx="58521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ויזואליזציה רעיונית של שכבת Insights. לא נתוני production ספציפיים.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2148840"/>
            <a:ext cx="420624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228600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Match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532888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Role vs Human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3108960"/>
            <a:ext cx="4206240" cy="82296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324612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Drop off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493008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After shortlist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069080"/>
            <a:ext cx="4206240" cy="82296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420624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Sources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453128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Referrals rising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5029200"/>
            <a:ext cx="420624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51663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Trends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413248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Motivation Fit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ערך מתמשך, לא רק רגע הגיוס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המטרה אינה להיתלות רק בפתיחת משרה. mingle יכולה ללוות חברות גם בין גיוסים.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647" y="233172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2367" y="249631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2367" y="278892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חברה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9103" y="274777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3151" y="233172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8871" y="249631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Hiring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8871" y="278892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גיוס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5607" y="274777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59655" y="233172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5375" y="249631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Talent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375" y="278892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טאלנט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111" y="274777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6159" y="233172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1879" y="249631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1879" y="278892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עובדים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68615" y="274777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52663" y="233172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8383" y="249631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Relationships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8383" y="278892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קשרים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15119" y="2747772"/>
            <a:ext cx="18288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99167" y="2331720"/>
            <a:ext cx="1325880" cy="86868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44887" y="2496312"/>
            <a:ext cx="1234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4887" y="2788920"/>
            <a:ext cx="1234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תובנות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4048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02336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Hiring moments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80560"/>
            <a:ext cx="3154680" cy="7772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שימוש חזק כשיש משרה פתוחה וצריך shortlist מוסבר.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999" y="384048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79" y="402336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Always on talent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79" y="4480560"/>
            <a:ext cx="3154680" cy="7772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שמירה על קשר עם טאלנט רלוונטי גם כשאין משרה עכשיו.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39" y="3840480"/>
            <a:ext cx="352044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4023360"/>
            <a:ext cx="3154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Employee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19" y="4480560"/>
            <a:ext cx="3154680" cy="7772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Employee Portal, Referrals וInsights כשכבות ערך חוזר.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התקדמות מוחשית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רק מה שקרה באמת: מוצר עובד, משתמשים מוקדמים, ולמידה מהשטח.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80360"/>
            <a:ext cx="10332720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2651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249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783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783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הבנה שהבעיה היא Fit, לא רק sourcing.</a:t>
            </a:r>
          </a:p>
        </p:txBody>
      </p:sp>
      <p:sp>
        <p:nvSpPr>
          <p:cNvPr id="12" name="Oval 11"/>
          <p:cNvSpPr/>
          <p:nvPr/>
        </p:nvSpPr>
        <p:spPr>
          <a:xfrm>
            <a:off x="3063240" y="2651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7249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291840"/>
            <a:ext cx="1783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703320"/>
            <a:ext cx="1783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מוצר חי עם Mutual Matching וWhy this match.</a:t>
            </a:r>
          </a:p>
        </p:txBody>
      </p:sp>
      <p:sp>
        <p:nvSpPr>
          <p:cNvPr id="16" name="Oval 15"/>
          <p:cNvSpPr/>
          <p:nvPr/>
        </p:nvSpPr>
        <p:spPr>
          <a:xfrm>
            <a:off x="4983480" y="2651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7249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91840"/>
            <a:ext cx="1783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Early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703320"/>
            <a:ext cx="1783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פיילוט עם מועמדים וחברות על מסלול אמיתי.</a:t>
            </a:r>
          </a:p>
        </p:txBody>
      </p:sp>
      <p:sp>
        <p:nvSpPr>
          <p:cNvPr id="20" name="Oval 19"/>
          <p:cNvSpPr/>
          <p:nvPr/>
        </p:nvSpPr>
        <p:spPr>
          <a:xfrm>
            <a:off x="6903720" y="2651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7249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1783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Company Interest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03320"/>
            <a:ext cx="1783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עניין מחברות ושיחות על שימוש בגיוס אמיתי.</a:t>
            </a:r>
          </a:p>
        </p:txBody>
      </p:sp>
      <p:sp>
        <p:nvSpPr>
          <p:cNvPr id="24" name="Oval 23"/>
          <p:cNvSpPr/>
          <p:nvPr/>
        </p:nvSpPr>
        <p:spPr>
          <a:xfrm>
            <a:off x="8823960" y="2651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7249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291840"/>
            <a:ext cx="1783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1783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למידה מ funnel, mutual matches והתקדמות לשיחה.</a:t>
            </a:r>
          </a:p>
        </p:txBody>
      </p:sp>
      <p:sp>
        <p:nvSpPr>
          <p:cNvPr id="28" name="Oval 27"/>
          <p:cNvSpPr/>
          <p:nvPr/>
        </p:nvSpPr>
        <p:spPr>
          <a:xfrm>
            <a:off x="10744200" y="2651760"/>
            <a:ext cx="502920" cy="50292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44200" y="2724912"/>
            <a:ext cx="502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291840"/>
            <a:ext cx="1783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Next Stage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703320"/>
            <a:ext cx="1783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הרחבת supply של חברות והעמקת Product Market Fit.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212080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303520"/>
            <a:ext cx="2834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55778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Product live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80560" y="5212080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5303520"/>
            <a:ext cx="2834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Focus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5778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Pilot learning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5212080"/>
            <a:ext cx="310896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5303520"/>
            <a:ext cx="28346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5577840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Mutual matches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Why me? Why this problem? Why 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מייסדת יחידה עם חיבור אישי לבעיה, ורקע שמחבר People וTech.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4114800" cy="3749039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468880"/>
            <a:ext cx="1554480" cy="1554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20624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ירין כהן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Founder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3566160" cy="7772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ראיתי מקרוב איך גיוס יכול להיראות נכון על הנייר, ואז להישבר במציאות. mingle נולדה מהצורך להבין Fit לפני ההחלטה.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19456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33172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הבנה עמוקה של תהליכי אנשים וארגון.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9456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33172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Recruitment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ניסיון מעשי בכאב של גיוס והחלטות Fit.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347472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36118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931920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ראייה של אדם מעבר לCV ולרושם ראשוני.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474720"/>
            <a:ext cx="30175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611880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Organizational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31920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איך אנשים והחברה באמת עובדים יחד לאורך זמן.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4892040"/>
            <a:ext cx="62179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5029200"/>
            <a:ext cx="58521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Tech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5349240"/>
            <a:ext cx="5852160" cy="5029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בניית מוצר SaaS חי, לא רק רעיון על גיוס.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Relationship layer בין אנשים לחברות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לא רק Recruitment. מערכת יחסים מתמשכת לפני, במהלך ואחרי תהליך הגיוס.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9418320" cy="365760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0" y="3291840"/>
            <a:ext cx="1737360" cy="1737360"/>
          </a:xfrm>
          <a:prstGeom prst="ellipse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379476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160520"/>
            <a:ext cx="1737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>ecosystem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46888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People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46888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514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Companies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475488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4800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Talent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475488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480060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Employees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34924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539496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Managers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65760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703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3657600"/>
            <a:ext cx="13716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703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Insights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/>
          </a:prstGeom>
          <a:solidFill>
            <a:srgbClr val="F8F4FC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ingle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554480"/>
            <a:ext cx="1006955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74320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mingle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8503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Beyond the match.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The future of hiring starts before the hire.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מידע מעמיק לשאלות אחרי הסיפור המרכזי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Appendix ·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ההזדמנות גדולה מהגיוס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השוק מתחיל בRecruitment, אבל הערך האמיתי נמצא בשכבות הקשר שמסביב.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5447" y="2148840"/>
            <a:ext cx="6400800" cy="82296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9767" y="2258568"/>
            <a:ext cx="585216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Recruitment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9767" y="2560320"/>
            <a:ext cx="585216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השכבה הראשונה: מציאת האנשים הנכונים עם הבנה לפני ההחלטה.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2527" y="3108960"/>
            <a:ext cx="740664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6847" y="3218688"/>
            <a:ext cx="685800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Talent Relationship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847" y="3520440"/>
            <a:ext cx="685800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קשר מתמשך עם טאלנט, גם מחוץ לרגע הפתיחה של משרה.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89607" y="4069080"/>
            <a:ext cx="8412480" cy="82296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3927" y="4178808"/>
            <a:ext cx="786384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Employee Relationship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3927" y="4480560"/>
            <a:ext cx="786384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עובדים כחלק מהמערכת: Referrals, Insights וקשר פנים ארגוני.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86687" y="5029200"/>
            <a:ext cx="9418320" cy="82296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1007" y="5138928"/>
            <a:ext cx="886968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Future of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1007" y="5440680"/>
            <a:ext cx="8869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Relationship layer רחבה בין אנשים לחברות לאורך מחזור החיים.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Appendix ·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איפה mingle שונה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רוב הכלים עוזרים לנהל תהליך או לחפש אנשים. mingle מסבירה למה כדאי לדבר.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20574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B2FF7"/>
                </a:solidFill>
                <a:latin typeface="Figtree"/>
              </a:rPr>
              <a:t>PeopleForce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0574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B2FF7"/>
                </a:solidFill>
                <a:latin typeface="Figtree"/>
              </a:rPr>
              <a:t>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B2FF7"/>
                </a:solidFill>
                <a:latin typeface="Figtree"/>
              </a:rPr>
              <a:t>Job 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39" y="20574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F1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7B2FF7"/>
                </a:solidFill>
                <a:latin typeface="Figtree"/>
              </a:rPr>
              <a:t>Keyword 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52120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PeopleForce וכלים דומים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49039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65647E"/>
                </a:solidFill>
                <a:latin typeface="Figtree"/>
              </a:rPr>
              <a:t>HR suite וניהול תהליך גיוס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65647E"/>
                </a:solidFill>
                <a:latin typeface="Figtree"/>
              </a:rPr>
              <a:t>ארגון מועמדים, משרות וWorkflow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65647E"/>
                </a:solidFill>
                <a:latin typeface="Figtree"/>
              </a:rPr>
              <a:t>חיפוש וסינון לפי מילות מפתח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65647E"/>
                </a:solidFill>
                <a:latin typeface="Figtree"/>
              </a:rPr>
              <a:t>פחות דגש על למה באמת יש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97480"/>
            <a:ext cx="5212080" cy="301752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1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mingle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004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Explained Mutual Matching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39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1C1B2E"/>
                </a:solidFill>
                <a:latin typeface="Figtree"/>
              </a:rPr>
              <a:t>Strong Matches עם Why this match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1C1B2E"/>
                </a:solidFill>
                <a:latin typeface="Figtree"/>
              </a:rPr>
              <a:t>Role · Human · Motivation Fit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1C1B2E"/>
                </a:solidFill>
                <a:latin typeface="Figtree"/>
              </a:rPr>
              <a:t>Potential gaps לפני השיחה</a:t>
            </a:r>
          </a:p>
          <a:p>
            <a:pPr rtl="1" algn="r">
              <a:spcAft>
                <a:spcPts val="600"/>
              </a:spcAft>
            </a:pPr>
            <a:r>
              <a:rPr sz="1300" b="0">
                <a:solidFill>
                  <a:srgbClr val="1C1B2E"/>
                </a:solidFill>
                <a:latin typeface="Figtree"/>
              </a:rPr>
              <a:t>Relationship layer לפני ואחרי ההעסקה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897880"/>
            <a:ext cx="9418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לא מחליפים מערכת HR. מוסיפים שכבת הבנה שחסרה לפני החיבור.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Appendix · Matching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איך נבנה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פירוט השכבות לשיחה מעמיקה. לא חלק מהסיפור המרכזי של הפגישה.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3520440" cy="3474720"/>
          </a:xfrm>
          <a:prstGeom prst="roundRect">
            <a:avLst>
              <a:gd name="adj" fmla="val 10000"/>
            </a:avLst>
          </a:prstGeom>
          <a:solidFill>
            <a:srgbClr val="F1E8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306324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Role Fit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1089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0040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7033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9476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29768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8912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Seniority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9204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Quiet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286000"/>
            <a:ext cx="3520440" cy="3474720"/>
          </a:xfrm>
          <a:prstGeom prst="roundRect">
            <a:avLst>
              <a:gd name="adj" fmla="val 10000"/>
            </a:avLst>
          </a:prstGeom>
          <a:solidFill>
            <a:srgbClr val="E9EFFE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2514600"/>
            <a:ext cx="306324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Human Fit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59" y="31089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599" y="320040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Work style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59" y="37033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599" y="379476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Culture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429768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599" y="438912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Team environment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489204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498348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Collaboration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599" y="2286000"/>
            <a:ext cx="3520440" cy="3474720"/>
          </a:xfrm>
          <a:prstGeom prst="roundRect">
            <a:avLst>
              <a:gd name="adj" fmla="val 10000"/>
            </a:avLst>
          </a:prstGeom>
          <a:solidFill>
            <a:srgbClr val="FDEAF1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9" y="2514600"/>
            <a:ext cx="3063240" cy="36576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8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Motivation Fit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199" y="310896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9639" y="320040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Goals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199" y="370332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39" y="379476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Values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199" y="429768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438912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Career direction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58199" y="4892040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4983480"/>
            <a:ext cx="2880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Drive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01168"/>
            <a:ext cx="11676888" cy="64556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1">
                <a:solidFill>
                  <a:srgbClr val="7B2FF7"/>
                </a:solidFill>
                <a:latin typeface="Figtree"/>
                <a:ea typeface="Figtree"/>
                <a:cs typeface="Figtree"/>
              </a:rPr>
              <a:t>Appendix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30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שאלות נפוצות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5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תשובות קצרות לשיחה אחרי הסיפור המרכזי.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5394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האם mingle מחליפה ראיון?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לא. היא מחליפה את הרשימה הרועשת ומכינה שיחה טובה יותר.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394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מה שונה מאלגוריתם Match רגיל?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01752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שקיפות. Role, Human וMotivation עם Why וPotential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394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למי המוצר קודם כל?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5488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לצוותי גיוס ומייסדים שמגייסים. למועמדים זה חינם.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023360"/>
            <a:ext cx="5394960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9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25196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400" b="1">
                <a:solidFill>
                  <a:srgbClr val="1C1B2E"/>
                </a:solidFill>
                <a:latin typeface="Figtree"/>
                <a:ea typeface="Figtree"/>
                <a:cs typeface="Figtree"/>
              </a:rPr>
              <a:t>מה הNext Stage?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754880"/>
            <a:ext cx="4937760" cy="548640"/>
          </a:xfrm>
          <a:prstGeom prst="rect">
            <a:avLst/>
          </a:prstGeom>
          <a:noFill/>
        </p:spPr>
        <p:txBody>
          <a:bodyPr wrap="square"/>
          <a:lstStyle/>
          <a:p>
            <a:pPr rtl="1" algn="r"/>
            <a:r>
              <a:rPr sz="1200" b="0">
                <a:solidFill>
                  <a:srgbClr val="65647E"/>
                </a:solidFill>
                <a:latin typeface="Figtree"/>
                <a:ea typeface="Figtree"/>
                <a:cs typeface="Figtree"/>
              </a:rPr>
              <a:t>העמקת Product Market Fit והרחבת שכבת Relationship.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