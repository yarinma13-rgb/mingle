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השקעת זמן ניהולי</c:v>
                </c:pt>
              </c:strCache>
            </c:strRef>
          </c:tx>
          <c:spPr>
            <a:solidFill>
              <a:srgbClr val="333333"/>
            </a:solidFill>
          </c:spPr>
          <c:cat>
            <c:strRef>
              <c:f>Sheet1!$A$2:$A$4</c:f>
              <c:strCache>
                <c:ptCount val="3"/>
                <c:pt idx="0">
                  <c:v>מיקרו-משוב (3 דק')</c:v>
                </c:pt>
                <c:pt idx="1">
                  <c:v>שגרה פורמלית כבדה</c:v>
                </c:pt>
                <c:pt idx="2">
                  <c:v>כיבוי שריפות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</c:v>
                </c:pt>
                <c:pt idx="1">
                  <c:v>35</c:v>
                </c:pt>
                <c:pt idx="2">
                  <c:v>40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txPr>
        <a:bodyPr/>
        <a:lstStyle/>
        <a:p>
          <a:pPr>
            <a:defRPr sz="1200">
              <a:solidFill>
                <a:srgbClr val="FFFFFF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שעות ניהול על משברים (חודשי)</c:v>
                </c:pt>
              </c:strCache>
            </c:strRef>
          </c:tx>
          <c:spPr>
            <a:solidFill>
              <a:srgbClr val="F89800"/>
            </a:solidFill>
          </c:spPr>
          <c:cat>
            <c:strRef>
              <c:f>Sheet1!$A$2:$A$4</c:f>
              <c:strCache>
                <c:ptCount val="3"/>
                <c:pt idx="0">
                  <c:v>בלי התרעה</c:v>
                </c:pt>
                <c:pt idx="1">
                  <c:v>עם מיקרו-משוב</c:v>
                </c:pt>
                <c:pt idx="2">
                  <c:v>עם PeopleForce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9</c:v>
                </c:pt>
                <c:pt idx="2">
                  <c:v>6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61120" y="0"/>
            <a:ext cx="3246120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yfxbook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3840480" cy="999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2286000"/>
            <a:ext cx="7772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3600" b="1">
                <a:solidFill>
                  <a:srgbClr val="FFFFFF"/>
                </a:solidFill>
                <a:latin typeface="Arial"/>
              </a:rPr>
              <a:t>מנהיגות מקדמת ומשוב בזמן אמת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3429000"/>
            <a:ext cx="2103120" cy="50800"/>
          </a:xfrm>
          <a:prstGeom prst="rect">
            <a:avLst/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7772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600" b="0">
                <a:solidFill>
                  <a:srgbClr val="A8A8A8"/>
                </a:solidFill>
                <a:latin typeface="Arial"/>
              </a:rPr>
              <a:t>סנכרון ציפיות · חיבור לתמונה הגדולה · שגרת ניהול מנצחת</a:t>
            </a:r>
          </a:p>
          <a:p>
            <a:pPr algn="r" rtl="1"/>
            <a:r>
              <a:rPr sz="1600" b="0">
                <a:solidFill>
                  <a:srgbClr val="A8A8A8"/>
                </a:solidFill>
                <a:latin typeface="Arial"/>
              </a:rPr>
              <a:t>סדנה לראשי צוותים בעולמות הפיתוח והטכני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7772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300" b="0">
                <a:solidFill>
                  <a:srgbClr val="F89800"/>
                </a:solidFill>
                <a:latin typeface="Arial"/>
              </a:rPr>
              <a:t>Myfxbook  |  פיתוח מנהלים וראשי צוותים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2600" b="1">
                <a:solidFill>
                  <a:srgbClr val="FFFFFF"/>
                </a:solidFill>
                <a:latin typeface="Arial"/>
              </a:rPr>
              <a:t>סגנונות ניהול: התאמת הגישה לעובד ולשלב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300" b="0">
                <a:solidFill>
                  <a:srgbClr val="A8A8A8"/>
                </a:solidFill>
                <a:latin typeface="Arial"/>
              </a:rPr>
              <a:t>שלושה מודלים — גמישות, שירות, תוצאות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155680" cy="1905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3383280" cy="411480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5875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3383280" cy="109728"/>
          </a:xfrm>
          <a:prstGeom prst="rect">
            <a:avLst/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154680" y="173736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1783080"/>
            <a:ext cx="5029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rtl="1"/>
            <a:r>
              <a:rPr sz="1600" b="1">
                <a:solidFill>
                  <a:srgbClr val="000000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2286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800" b="1">
                <a:solidFill>
                  <a:srgbClr val="FFFFFF"/>
                </a:solidFill>
                <a:latin typeface="Arial"/>
              </a:rPr>
              <a:t>ניהול מצבי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94560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200" b="0">
                <a:solidFill>
                  <a:srgbClr val="F89800"/>
                </a:solidFill>
                <a:latin typeface="Arial"/>
              </a:rPr>
              <a:t>Situational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292608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400" b="0">
                <a:solidFill>
                  <a:srgbClr val="E8E8E8"/>
                </a:solidFill>
                <a:latin typeface="Arial"/>
              </a:rPr>
              <a:t>התאמה אישית לפי מוכנות, מקצועיות וביטחון במשימה. רמת הכוונה ותמיכה משתנה.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1417320"/>
            <a:ext cx="3383280" cy="411480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5875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60520" y="1417320"/>
            <a:ext cx="3383280" cy="109728"/>
          </a:xfrm>
          <a:prstGeom prst="rect">
            <a:avLst/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12280" y="173736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1783080"/>
            <a:ext cx="5029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rtl="1"/>
            <a:r>
              <a:rPr sz="1600" b="1">
                <a:solidFill>
                  <a:srgbClr val="000000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1737360"/>
            <a:ext cx="2286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800" b="1">
                <a:solidFill>
                  <a:srgbClr val="FFFFFF"/>
                </a:solidFill>
                <a:latin typeface="Arial"/>
              </a:rPr>
              <a:t>מנהיגות משרתת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194560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200" b="0">
                <a:solidFill>
                  <a:srgbClr val="F89800"/>
                </a:solidFill>
                <a:latin typeface="Arial"/>
              </a:rPr>
              <a:t>Servant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743200"/>
            <a:ext cx="292608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400" b="0">
                <a:solidFill>
                  <a:srgbClr val="E8E8E8"/>
                </a:solidFill>
                <a:latin typeface="Arial"/>
              </a:rPr>
              <a:t>שאלה מרכזית: "איך אני עוזר לך להצליח?" הסרת חסמים, כלים וגיבוי.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1417320"/>
            <a:ext cx="3383280" cy="411480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5875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18120" y="1417320"/>
            <a:ext cx="3383280" cy="109728"/>
          </a:xfrm>
          <a:prstGeom prst="rect">
            <a:avLst/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69880" y="173736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69880" y="1783080"/>
            <a:ext cx="5029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rtl="1"/>
            <a:r>
              <a:rPr sz="1600" b="1">
                <a:solidFill>
                  <a:srgbClr val="000000"/>
                </a:solidFill>
                <a:latin typeface="Arial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1737360"/>
            <a:ext cx="2286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800" b="1">
                <a:solidFill>
                  <a:srgbClr val="FFFFFF"/>
                </a:solidFill>
                <a:latin typeface="Arial"/>
              </a:rPr>
              <a:t>ניהול מבוסס תוצאות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2194560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200" b="0">
                <a:solidFill>
                  <a:srgbClr val="F89800"/>
                </a:solidFill>
                <a:latin typeface="Arial"/>
              </a:rPr>
              <a:t>MBO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2743200"/>
            <a:ext cx="292608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400" b="0">
                <a:solidFill>
                  <a:srgbClr val="E8E8E8"/>
                </a:solidFill>
                <a:latin typeface="Arial"/>
              </a:rPr>
              <a:t>מגדירים את ה"מה". חופש ב"איך". מדדי הצלחה ומועדי בקרה ברורים.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715000"/>
            <a:ext cx="11155680" cy="54864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400" b="1">
                <a:solidFill>
                  <a:srgbClr val="F89800"/>
                </a:solidFill>
                <a:latin typeface="Arial"/>
              </a:rPr>
              <a:t>עיקרון מנחה: אין סגנון אחד נכון — בוחרים לפי האדם, המשימה והשלב.</a:t>
            </a:r>
          </a:p>
        </p:txBody>
      </p:sp>
      <p:pic>
        <p:nvPicPr>
          <p:cNvPr id="30" name="Picture 29" descr="myfxbook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446520"/>
            <a:ext cx="983742" cy="25603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601200" y="6446520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rtl="1"/>
            <a:r>
              <a:rPr sz="1100" b="0">
                <a:solidFill>
                  <a:srgbClr val="A8A8A8"/>
                </a:solidFill>
                <a:latin typeface="Arial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2600" b="1">
                <a:solidFill>
                  <a:srgbClr val="FFFFFF"/>
                </a:solidFill>
                <a:latin typeface="Arial"/>
              </a:rPr>
              <a:t>הובלת צוות לאחר איחוד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300" b="0">
                <a:solidFill>
                  <a:srgbClr val="A8A8A8"/>
                </a:solidFill>
                <a:latin typeface="Arial"/>
              </a:rPr>
              <a:t>ארבעה מפתחות להצלחה — זהות, אמון, בהירות, סנכרון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155680" cy="1905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349240" cy="210312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5875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109728" cy="2103120"/>
          </a:xfrm>
          <a:prstGeom prst="rect">
            <a:avLst/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0640" y="169164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1737360"/>
            <a:ext cx="5029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rtl="1"/>
            <a:r>
              <a:rPr sz="1600" b="1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737360"/>
            <a:ext cx="4023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800" b="1">
                <a:solidFill>
                  <a:srgbClr val="FFFFFF"/>
                </a:solidFill>
                <a:latin typeface="Arial"/>
              </a:rPr>
              <a:t>זהות ושפה משותפת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45720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400" b="0">
                <a:solidFill>
                  <a:srgbClr val="A8A8A8"/>
                </a:solidFill>
                <a:latin typeface="Arial"/>
              </a:rPr>
              <a:t>נורמות עבודה וערכים אחידים לכל הצוות המאוחד.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417320"/>
            <a:ext cx="5349240" cy="210312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5875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417320"/>
            <a:ext cx="109728" cy="2103120"/>
          </a:xfrm>
          <a:prstGeom prst="rect">
            <a:avLst/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744200" y="169164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44200" y="1737360"/>
            <a:ext cx="5029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rtl="1"/>
            <a:r>
              <a:rPr sz="1600" b="1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737360"/>
            <a:ext cx="4023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800" b="1">
                <a:solidFill>
                  <a:srgbClr val="FFFFFF"/>
                </a:solidFill>
                <a:latin typeface="Arial"/>
              </a:rPr>
              <a:t>פירוק מחנות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331720"/>
            <a:ext cx="45720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400" b="0">
                <a:solidFill>
                  <a:srgbClr val="A8A8A8"/>
                </a:solidFill>
                <a:latin typeface="Arial"/>
              </a:rPr>
              <a:t>שילוב ותיקים וחדשים; אחריות שאינה חופפת.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94760"/>
            <a:ext cx="5349240" cy="210312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5875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794760"/>
            <a:ext cx="109728" cy="2103120"/>
          </a:xfrm>
          <a:prstGeom prst="rect">
            <a:avLst/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20640" y="406908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4114800"/>
            <a:ext cx="5029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rtl="1"/>
            <a:r>
              <a:rPr sz="1600" b="1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114800"/>
            <a:ext cx="4023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800" b="1">
                <a:solidFill>
                  <a:srgbClr val="FFFFFF"/>
                </a:solidFill>
                <a:latin typeface="Arial"/>
              </a:rPr>
              <a:t>ביטחון פסיכולוגי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709160"/>
            <a:ext cx="45720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400" b="0">
                <a:solidFill>
                  <a:srgbClr val="A8A8A8"/>
                </a:solidFill>
                <a:latin typeface="Arial"/>
              </a:rPr>
              <a:t>מקום בטוח לחששות, הקשבה וסנכרון ציפיות מחודש.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794760"/>
            <a:ext cx="5349240" cy="210312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5875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3794760"/>
            <a:ext cx="109728" cy="2103120"/>
          </a:xfrm>
          <a:prstGeom prst="rect">
            <a:avLst/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744200" y="406908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44200" y="4114800"/>
            <a:ext cx="5029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rtl="1"/>
            <a:r>
              <a:rPr sz="1600" b="1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114800"/>
            <a:ext cx="4023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800" b="1">
                <a:solidFill>
                  <a:srgbClr val="FFFFFF"/>
                </a:solidFill>
                <a:latin typeface="Arial"/>
              </a:rPr>
              <a:t>בהירות בממשקים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709160"/>
            <a:ext cx="45720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400" b="0">
                <a:solidFill>
                  <a:srgbClr val="A8A8A8"/>
                </a:solidFill>
                <a:latin typeface="Arial"/>
              </a:rPr>
              <a:t>מי מחליט, למי פונים, ואיך מדווחים.</a:t>
            </a:r>
          </a:p>
        </p:txBody>
      </p:sp>
      <p:pic>
        <p:nvPicPr>
          <p:cNvPr id="31" name="Picture 30" descr="myfxbook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446520"/>
            <a:ext cx="983742" cy="25603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601200" y="6446520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rtl="1"/>
            <a:r>
              <a:rPr sz="1100" b="0">
                <a:solidFill>
                  <a:srgbClr val="A8A8A8"/>
                </a:solidFill>
                <a:latin typeface="Arial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2600" b="1">
                <a:solidFill>
                  <a:srgbClr val="FFFFFF"/>
                </a:solidFill>
                <a:latin typeface="Arial"/>
              </a:rPr>
              <a:t>חיבור העובד לתמונה הגדולה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300" b="0">
                <a:solidFill>
                  <a:srgbClr val="A8A8A8"/>
                </a:solidFill>
                <a:latin typeface="Arial"/>
              </a:rPr>
              <a:t>מהמשמעות האישית — לראייה המערכתית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155680" cy="1905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394960" cy="466344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5875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5394960" cy="502920"/>
          </a:xfrm>
          <a:prstGeom prst="rect">
            <a:avLst/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81328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600" b="1">
                <a:solidFill>
                  <a:srgbClr val="000000"/>
                </a:solidFill>
                <a:latin typeface="Arial"/>
              </a:rPr>
              <a:t>משמעות אישית ומחויבות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500" b="1">
                <a:solidFill>
                  <a:srgbClr val="F89800"/>
                </a:solidFill>
                <a:latin typeface="Arial"/>
              </a:rPr>
              <a:t>ה"למה" לפני ה"איך"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60320"/>
            <a:ext cx="47548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300" b="0">
                <a:solidFill>
                  <a:srgbClr val="E8E8E8"/>
                </a:solidFill>
                <a:latin typeface="Arial"/>
              </a:rPr>
              <a:t>הבנת ההשפעה על לקוחות ויעדי הארגון מגבירה מחויבות.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500" b="1">
                <a:solidFill>
                  <a:srgbClr val="F89800"/>
                </a:solidFill>
                <a:latin typeface="Arial"/>
              </a:rPr>
              <a:t>התפתחות מקצועית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47548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300" b="0">
                <a:solidFill>
                  <a:srgbClr val="E8E8E8"/>
                </a:solidFill>
                <a:latin typeface="Arial"/>
              </a:rPr>
              <a:t>עמידה ביעדים בונה ניסיון, מוניטין וצמיחה אישית.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417320"/>
            <a:ext cx="5394960" cy="466344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5875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417320"/>
            <a:ext cx="5394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481328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600" b="1">
                <a:solidFill>
                  <a:srgbClr val="000000"/>
                </a:solidFill>
                <a:latin typeface="Arial"/>
              </a:rPr>
              <a:t>ראייה מערכתית בצוות המאוחד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9456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500" b="1">
                <a:solidFill>
                  <a:srgbClr val="F89800"/>
                </a:solidFill>
                <a:latin typeface="Arial"/>
              </a:rPr>
              <a:t>הבנת ממשקים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60320"/>
            <a:ext cx="47548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300" b="0">
                <a:solidFill>
                  <a:srgbClr val="E8E8E8"/>
                </a:solidFill>
                <a:latin typeface="Arial"/>
              </a:rPr>
              <a:t>מי מושפע במורד השרשרת? איך האיחוד מחזק את החברה?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56616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500" b="1">
                <a:solidFill>
                  <a:srgbClr val="F89800"/>
                </a:solidFill>
                <a:latin typeface="Arial"/>
              </a:rPr>
              <a:t>שבירת סילו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931920"/>
            <a:ext cx="47548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300" b="0">
                <a:solidFill>
                  <a:srgbClr val="E8E8E8"/>
                </a:solidFill>
                <a:latin typeface="Arial"/>
              </a:rPr>
              <a:t>כולם חותרים לאותה מטרה עסקית — לא מתחרים על טריטוריה.</a:t>
            </a:r>
          </a:p>
        </p:txBody>
      </p:sp>
      <p:pic>
        <p:nvPicPr>
          <p:cNvPr id="21" name="Picture 20" descr="myfxbook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446520"/>
            <a:ext cx="983742" cy="25603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601200" y="6446520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rtl="1"/>
            <a:r>
              <a:rPr sz="1100" b="0">
                <a:solidFill>
                  <a:srgbClr val="A8A8A8"/>
                </a:solidFill>
                <a:latin typeface="Arial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2600" b="1">
                <a:solidFill>
                  <a:srgbClr val="FFFFFF"/>
                </a:solidFill>
                <a:latin typeface="Arial"/>
              </a:rPr>
              <a:t>ותק מול אחריות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300" b="0">
                <a:solidFill>
                  <a:srgbClr val="A8A8A8"/>
                </a:solidFill>
                <a:latin typeface="Arial"/>
              </a:rPr>
              <a:t>ממלכודת הותק — לבעלות אמיתית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155680" cy="1905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394960" cy="306324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5875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800" b="1">
                <a:solidFill>
                  <a:srgbClr val="A8A8A8"/>
                </a:solidFill>
                <a:latin typeface="Arial"/>
              </a:rPr>
              <a:t>✗  המלכודת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493776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500" b="0">
                <a:solidFill>
                  <a:srgbClr val="E8E8E8"/>
                </a:solidFill>
                <a:latin typeface="Arial"/>
              </a:rPr>
              <a:t>ותק ← תחושת "מקום מובטח"</a:t>
            </a:r>
          </a:p>
          <a:p>
            <a:pPr algn="r" rtl="1"/>
            <a:r>
              <a:rPr sz="1500" b="0">
                <a:solidFill>
                  <a:srgbClr val="E8E8E8"/>
                </a:solidFill>
                <a:latin typeface="Arial"/>
              </a:rPr>
              <a:t>תוספת אחריות נתפסת כעונש</a:t>
            </a:r>
          </a:p>
          <a:p>
            <a:pPr algn="r" rtl="1"/>
            <a:r>
              <a:rPr sz="1500" b="0">
                <a:solidFill>
                  <a:srgbClr val="E8E8E8"/>
                </a:solidFill>
                <a:latin typeface="Arial"/>
              </a:rPr>
              <a:t>הימנעות ממשוב ← עיוורון ופער ציפיות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371600"/>
            <a:ext cx="5394960" cy="306324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5875">
            <a:solidFill>
              <a:srgbClr val="F8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5448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800" b="1">
                <a:solidFill>
                  <a:srgbClr val="F89800"/>
                </a:solidFill>
                <a:latin typeface="Arial"/>
              </a:rPr>
              <a:t>✓  שינוי הדיסקט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03120"/>
            <a:ext cx="493776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500" b="0">
                <a:solidFill>
                  <a:srgbClr val="E8E8E8"/>
                </a:solidFill>
                <a:latin typeface="Arial"/>
              </a:rPr>
              <a:t>ותק = ערך וניסיון — לא חסינות</a:t>
            </a:r>
          </a:p>
          <a:p>
            <a:pPr algn="r" rtl="1"/>
            <a:r>
              <a:rPr sz="1500" b="0">
                <a:solidFill>
                  <a:srgbClr val="E8E8E8"/>
                </a:solidFill>
                <a:latin typeface="Arial"/>
              </a:rPr>
              <a:t>אחריות = יוקרה, חניכה והשפעה</a:t>
            </a:r>
          </a:p>
          <a:p>
            <a:pPr algn="r" rtl="1"/>
            <a:r>
              <a:rPr sz="1500" b="0">
                <a:solidFill>
                  <a:srgbClr val="E8E8E8"/>
                </a:solidFill>
                <a:latin typeface="Arial"/>
              </a:rPr>
              <a:t>ותיק כמוביל תהליך — לא "כבר עשה את שלו"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663440"/>
            <a:ext cx="3566160" cy="132588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75488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100" b="0">
                <a:solidFill>
                  <a:srgbClr val="F89800"/>
                </a:solidFill>
                <a:latin typeface="Arial"/>
              </a:rPr>
              <a:t>Re-alignment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02920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400" b="1">
                <a:solidFill>
                  <a:srgbClr val="FFFFFF"/>
                </a:solidFill>
                <a:latin typeface="Arial"/>
              </a:rPr>
              <a:t>שיחת סנכרון ציפיות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394960"/>
            <a:ext cx="3200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200" b="0">
                <a:solidFill>
                  <a:srgbClr val="A8A8A8"/>
                </a:solidFill>
                <a:latin typeface="Arial"/>
              </a:rPr>
              <a:t>מדדי הצלחה והתפוקות של היום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59" y="4663440"/>
            <a:ext cx="3566160" cy="132588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39" y="475488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100" b="0">
                <a:solidFill>
                  <a:srgbClr val="F89800"/>
                </a:solidFill>
                <a:latin typeface="Arial"/>
              </a:rPr>
              <a:t>Empowerment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39" y="502920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400" b="1">
                <a:solidFill>
                  <a:srgbClr val="FFFFFF"/>
                </a:solidFill>
                <a:latin typeface="Arial"/>
              </a:rPr>
              <a:t>מינוף כמנטור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39" y="5394960"/>
            <a:ext cx="3200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200" b="0">
                <a:solidFill>
                  <a:srgbClr val="A8A8A8"/>
                </a:solidFill>
                <a:latin typeface="Arial"/>
              </a:rPr>
              <a:t>אחריות כהערכה — שימור ידע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0998" y="4663440"/>
            <a:ext cx="3566160" cy="132588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8" y="475488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100" b="0">
                <a:solidFill>
                  <a:srgbClr val="F89800"/>
                </a:solidFill>
                <a:latin typeface="Arial"/>
              </a:rPr>
              <a:t>Micro-Feedback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8" y="502920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400" b="1">
                <a:solidFill>
                  <a:srgbClr val="FFFFFF"/>
                </a:solidFill>
                <a:latin typeface="Arial"/>
              </a:rPr>
              <a:t>משוב בזמן אמת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8" y="5394960"/>
            <a:ext cx="3200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200" b="0">
                <a:solidFill>
                  <a:srgbClr val="A8A8A8"/>
                </a:solidFill>
                <a:latin typeface="Arial"/>
              </a:rPr>
              <a:t>שיקוף רציף בלי הפתעות</a:t>
            </a:r>
          </a:p>
        </p:txBody>
      </p:sp>
      <p:pic>
        <p:nvPicPr>
          <p:cNvPr id="25" name="Picture 24" descr="myfxbook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446520"/>
            <a:ext cx="983742" cy="25603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601200" y="6446520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rtl="1"/>
            <a:r>
              <a:rPr sz="1100" b="0">
                <a:solidFill>
                  <a:srgbClr val="A8A8A8"/>
                </a:solidFill>
                <a:latin typeface="Arial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2600" b="1">
                <a:solidFill>
                  <a:srgbClr val="FFFFFF"/>
                </a:solidFill>
                <a:latin typeface="Arial"/>
              </a:rPr>
              <a:t>בארגון קטן: מתריעים מוקדם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300" b="0">
                <a:solidFill>
                  <a:srgbClr val="A8A8A8"/>
                </a:solidFill>
                <a:latin typeface="Arial"/>
              </a:rPr>
              <a:t>מיקרו-משוב במקום שגרה מכבידה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155680" cy="1905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417320"/>
          <a:ext cx="53035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035040" y="1417320"/>
            <a:ext cx="5577840" cy="201168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5875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600200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400" b="1">
                <a:solidFill>
                  <a:srgbClr val="A8A8A8"/>
                </a:solidFill>
                <a:latin typeface="Arial"/>
              </a:rPr>
              <a:t>הבעיה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057400"/>
            <a:ext cx="51206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500" b="0">
                <a:solidFill>
                  <a:srgbClr val="E8E8E8"/>
                </a:solidFill>
                <a:latin typeface="Arial"/>
              </a:rPr>
              <a:t>שגרת משוב שבועית כבדה הופכת למעמסה בירוקרטית בקצב מהיר — ולא מחזיקה מעמד.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3657600"/>
            <a:ext cx="5577840" cy="228600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5875">
            <a:solidFill>
              <a:srgbClr val="F8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840480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400" b="1">
                <a:solidFill>
                  <a:srgbClr val="F89800"/>
                </a:solidFill>
                <a:latin typeface="Arial"/>
              </a:rPr>
              <a:t>הפתרון · 3 דקות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4297680"/>
            <a:ext cx="512064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500" b="0">
                <a:solidFill>
                  <a:srgbClr val="E8E8E8"/>
                </a:solidFill>
                <a:latin typeface="Arial"/>
              </a:rPr>
              <a:t>זיהיתם סטייה? מעירים מיד.</a:t>
            </a:r>
          </a:p>
          <a:p>
            <a:pPr algn="r" rtl="1"/>
            <a:r>
              <a:rPr sz="1500" b="0">
                <a:solidFill>
                  <a:srgbClr val="E8E8E8"/>
                </a:solidFill>
                <a:latin typeface="Arial"/>
              </a:rPr>
              <a:t>לא שומרים בבטן. לא מחכים לשריפה.</a:t>
            </a:r>
          </a:p>
          <a:p>
            <a:pPr algn="r" rtl="1"/>
            <a:r>
              <a:rPr sz="1500" b="0">
                <a:solidFill>
                  <a:srgbClr val="E8E8E8"/>
                </a:solidFill>
                <a:latin typeface="Arial"/>
              </a:rPr>
              <a:t>התרעה מוקדמת חוסכת שעות ניהול בהמשך.</a:t>
            </a:r>
          </a:p>
        </p:txBody>
      </p:sp>
      <p:pic>
        <p:nvPicPr>
          <p:cNvPr id="14" name="Picture 13" descr="myfxbook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46520"/>
            <a:ext cx="983742" cy="256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601200" y="6446520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rtl="1"/>
            <a:r>
              <a:rPr sz="1100" b="0">
                <a:solidFill>
                  <a:srgbClr val="A8A8A8"/>
                </a:solidFill>
                <a:latin typeface="Arial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2600" b="1">
                <a:solidFill>
                  <a:srgbClr val="FFFFFF"/>
                </a:solidFill>
                <a:latin typeface="Arial"/>
              </a:rPr>
              <a:t>מודל פידבק אפקטיבי: S-B-I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300" b="0">
                <a:solidFill>
                  <a:srgbClr val="A8A8A8"/>
                </a:solidFill>
                <a:latin typeface="Arial"/>
              </a:rPr>
              <a:t>Situation ← Behavior ← Impact  ·  קוראים מימין לשמאל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155680" cy="1905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566160" cy="320040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5875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0" y="160020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1737360"/>
            <a:ext cx="914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2800" b="1">
                <a:solidFill>
                  <a:srgbClr val="000000"/>
                </a:solidFill>
                <a:latin typeface="Arial"/>
              </a:rPr>
              <a:t>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9748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200" b="0">
                <a:solidFill>
                  <a:srgbClr val="F89800"/>
                </a:solidFill>
                <a:latin typeface="Arial"/>
              </a:rPr>
              <a:t>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1752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600" b="1">
                <a:solidFill>
                  <a:srgbClr val="FFFFFF"/>
                </a:solidFill>
                <a:latin typeface="Arial"/>
              </a:rPr>
              <a:t>ההשפעה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29000"/>
            <a:ext cx="31089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200" b="0">
                <a:solidFill>
                  <a:srgbClr val="A8A8A8"/>
                </a:solidFill>
                <a:latin typeface="Arial"/>
              </a:rPr>
              <a:t>השלכות על צוות/לקוח + דרך פעולה משותפת.</a:t>
            </a:r>
          </a:p>
          <a:p>
            <a:pPr algn="ctr" rtl="1"/>
            <a:r>
              <a:rPr sz="1200" b="0">
                <a:solidFill>
                  <a:srgbClr val="A8A8A8"/>
                </a:solidFill>
                <a:latin typeface="Arial"/>
              </a:rPr>
              <a:t>"גרם לעיכוב במסירה — איך מונעים בפעם הבאה?"</a:t>
            </a:r>
          </a:p>
        </p:txBody>
      </p:sp>
      <p:sp>
        <p:nvSpPr>
          <p:cNvPr id="13" name="Left Arrow 12"/>
          <p:cNvSpPr/>
          <p:nvPr/>
        </p:nvSpPr>
        <p:spPr>
          <a:xfrm>
            <a:off x="4114800" y="2834640"/>
            <a:ext cx="256032" cy="256032"/>
          </a:xfrm>
          <a:prstGeom prst="leftArrow">
            <a:avLst/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80" y="1371600"/>
            <a:ext cx="3566160" cy="320040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5875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23560" y="160020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0" y="1737360"/>
            <a:ext cx="914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2800" b="1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69748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200" b="0">
                <a:solidFill>
                  <a:srgbClr val="F89800"/>
                </a:solidFill>
                <a:latin typeface="Arial"/>
              </a:rPr>
              <a:t>Behavior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01752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600" b="1">
                <a:solidFill>
                  <a:srgbClr val="FFFFFF"/>
                </a:solidFill>
                <a:latin typeface="Arial"/>
              </a:rPr>
              <a:t>ההתנהגות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429000"/>
            <a:ext cx="31089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200" b="0">
                <a:solidFill>
                  <a:srgbClr val="A8A8A8"/>
                </a:solidFill>
                <a:latin typeface="Arial"/>
              </a:rPr>
              <a:t>פעולה נצפית בלבד — בלי שיפוט אופי.</a:t>
            </a:r>
          </a:p>
          <a:p>
            <a:pPr algn="ctr" rtl="1"/>
            <a:r>
              <a:rPr sz="1200" b="0">
                <a:solidFill>
                  <a:srgbClr val="A8A8A8"/>
                </a:solidFill>
                <a:latin typeface="Arial"/>
              </a:rPr>
              <a:t>"המסמך נשלח ללא בדיקה" ≠ "אתה לא אחראי"</a:t>
            </a:r>
          </a:p>
        </p:txBody>
      </p:sp>
      <p:sp>
        <p:nvSpPr>
          <p:cNvPr id="20" name="Left Arrow 19"/>
          <p:cNvSpPr/>
          <p:nvPr/>
        </p:nvSpPr>
        <p:spPr>
          <a:xfrm>
            <a:off x="7909560" y="2834640"/>
            <a:ext cx="256032" cy="256032"/>
          </a:xfrm>
          <a:prstGeom prst="leftArrow">
            <a:avLst/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92440" y="1371600"/>
            <a:ext cx="3566160" cy="320040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5875">
            <a:solidFill>
              <a:srgbClr val="F8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18320" y="160020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1737360"/>
            <a:ext cx="914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2800" b="1">
                <a:solidFill>
                  <a:srgbClr val="000000"/>
                </a:solidFill>
                <a:latin typeface="Arial"/>
              </a:rPr>
              <a:t>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69748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200" b="0">
                <a:solidFill>
                  <a:srgbClr val="F89800"/>
                </a:solidFill>
                <a:latin typeface="Arial"/>
              </a:rPr>
              <a:t>Situation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01752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600" b="1">
                <a:solidFill>
                  <a:srgbClr val="FFFFFF"/>
                </a:solidFill>
                <a:latin typeface="Arial"/>
              </a:rPr>
              <a:t>הסיטואציה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429000"/>
            <a:ext cx="31089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200" b="0">
                <a:solidFill>
                  <a:srgbClr val="A8A8A8"/>
                </a:solidFill>
                <a:latin typeface="Arial"/>
              </a:rPr>
              <a:t>עובדות בזמן ובמקום — בלי הכללות.</a:t>
            </a:r>
          </a:p>
          <a:p>
            <a:pPr algn="ctr" rtl="1"/>
            <a:r>
              <a:rPr sz="1200" b="0">
                <a:solidFill>
                  <a:srgbClr val="A8A8A8"/>
                </a:solidFill>
                <a:latin typeface="Arial"/>
              </a:rPr>
              <a:t>"בפגישת הצוות הבוקר…" / "בגרסה ששוחררה אתמול…"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846320"/>
            <a:ext cx="2697480" cy="77724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029200"/>
            <a:ext cx="2423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Arial"/>
              </a:rPr>
              <a:t>✓  שיפור ביצועים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4846320"/>
            <a:ext cx="2697480" cy="77724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5029200"/>
            <a:ext cx="2423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Arial"/>
              </a:rPr>
              <a:t>✓  התפתחות מקצועית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4846320"/>
            <a:ext cx="2697480" cy="77724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29200"/>
            <a:ext cx="2423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Arial"/>
              </a:rPr>
              <a:t>✓  העצמת ביטחון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4846320"/>
            <a:ext cx="2697480" cy="77724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81160" y="5029200"/>
            <a:ext cx="2423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Arial"/>
              </a:rPr>
              <a:t>✓  תקשורת פתוחה</a:t>
            </a:r>
          </a:p>
        </p:txBody>
      </p:sp>
      <p:pic>
        <p:nvPicPr>
          <p:cNvPr id="35" name="Picture 34" descr="myfxbook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446520"/>
            <a:ext cx="983742" cy="25603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601200" y="6446520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rtl="1"/>
            <a:r>
              <a:rPr sz="1100" b="0">
                <a:solidFill>
                  <a:srgbClr val="A8A8A8"/>
                </a:solidFill>
                <a:latin typeface="Arial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2600" b="1">
                <a:solidFill>
                  <a:srgbClr val="FFFFFF"/>
                </a:solidFill>
                <a:latin typeface="Arial"/>
              </a:rPr>
              <a:t>מעבר ל-PeopleForce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300" b="0">
                <a:solidFill>
                  <a:srgbClr val="A8A8A8"/>
                </a:solidFill>
                <a:latin typeface="Arial"/>
              </a:rPr>
              <a:t>מ-Google Sheets לתהליך ניהולי אחיד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155680" cy="1905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556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017520"/>
                <a:gridCol w="3200400"/>
                <a:gridCol w="3108960"/>
              </a:tblGrid>
              <a:tr h="841248">
                <a:tc>
                  <a:txBody>
                    <a:bodyPr/>
                    <a:lstStyle/>
                    <a:p>
                      <a:pPr algn="r" rtl="1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פרמטר</a:t>
                      </a:r>
                    </a:p>
                  </a:txBody>
                  <a:tcPr anchor="ctr">
                    <a:solidFill>
                      <a:srgbClr val="F898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בעבר · Sheets</a:t>
                      </a:r>
                    </a:p>
                  </a:txBody>
                  <a:tcPr anchor="ctr">
                    <a:solidFill>
                      <a:srgbClr val="F898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היום · PeopleForce</a:t>
                      </a:r>
                    </a:p>
                  </a:txBody>
                  <a:tcPr anchor="ctr">
                    <a:solidFill>
                      <a:srgbClr val="F898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 b="1">
                          <a:solidFill>
                            <a:srgbClr val="000000"/>
                          </a:solidFill>
                          <a:latin typeface="Arial"/>
                        </a:rPr>
                        <a:t>הערך הניהולי</a:t>
                      </a:r>
                    </a:p>
                  </a:txBody>
                  <a:tcPr anchor="ctr">
                    <a:solidFill>
                      <a:srgbClr val="F89800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r" rtl="1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אחידות</a:t>
                      </a:r>
                    </a:p>
                  </a:txBody>
                  <a:tcPr anchor="ctr"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>
                          <a:solidFill>
                            <a:srgbClr val="FFFFFF"/>
                          </a:solidFill>
                          <a:latin typeface="Arial"/>
                        </a:rPr>
                        <a:t>מילוי לא אחיד</a:t>
                      </a:r>
                    </a:p>
                  </a:txBody>
                  <a:tcPr anchor="ctr"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>
                          <a:solidFill>
                            <a:srgbClr val="FFFFFF"/>
                          </a:solidFill>
                          <a:latin typeface="Arial"/>
                        </a:rPr>
                        <a:t>הכנה + דיאלוג</a:t>
                      </a:r>
                    </a:p>
                  </a:txBody>
                  <a:tcPr anchor="ctr"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>
                          <a:solidFill>
                            <a:srgbClr val="FFFFFF"/>
                          </a:solidFill>
                          <a:latin typeface="Arial"/>
                        </a:rPr>
                        <a:t>סטנדרט לכל ר"צ</a:t>
                      </a:r>
                    </a:p>
                  </a:txBody>
                  <a:tcPr anchor="ctr">
                    <a:solidFill>
                      <a:srgbClr val="161616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r" rtl="1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הכנה</a:t>
                      </a:r>
                    </a:p>
                  </a:txBody>
                  <a:tcPr anchor="ctr"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>
                          <a:solidFill>
                            <a:srgbClr val="FFFFFF"/>
                          </a:solidFill>
                          <a:latin typeface="Arial"/>
                        </a:rPr>
                        <a:t>אלתור תוך כדי</a:t>
                      </a:r>
                    </a:p>
                  </a:txBody>
                  <a:tcPr anchor="ctr"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>
                          <a:solidFill>
                            <a:srgbClr val="FFFFFF"/>
                          </a:solidFill>
                          <a:latin typeface="Arial"/>
                        </a:rPr>
                        <a:t>ניתוח מראש</a:t>
                      </a:r>
                    </a:p>
                  </a:txBody>
                  <a:tcPr anchor="ctr"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>
                          <a:solidFill>
                            <a:srgbClr val="FFFFFF"/>
                          </a:solidFill>
                          <a:latin typeface="Arial"/>
                        </a:rPr>
                        <a:t>משוב מבוסס עובדות</a:t>
                      </a:r>
                    </a:p>
                  </a:txBody>
                  <a:tcPr anchor="ctr">
                    <a:solidFill>
                      <a:srgbClr val="1E1E1E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r" rtl="1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חוויית עובד</a:t>
                      </a:r>
                    </a:p>
                  </a:txBody>
                  <a:tcPr anchor="ctr"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>
                          <a:solidFill>
                            <a:srgbClr val="FFFFFF"/>
                          </a:solidFill>
                          <a:latin typeface="Arial"/>
                        </a:rPr>
                        <a:t>מילוי טפסים</a:t>
                      </a:r>
                    </a:p>
                  </a:txBody>
                  <a:tcPr anchor="ctr"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>
                          <a:solidFill>
                            <a:srgbClr val="FFFFFF"/>
                          </a:solidFill>
                          <a:latin typeface="Arial"/>
                        </a:rPr>
                        <a:t>שיחה פתוחה</a:t>
                      </a:r>
                    </a:p>
                  </a:txBody>
                  <a:tcPr anchor="ctr"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>
                          <a:solidFill>
                            <a:srgbClr val="FFFFFF"/>
                          </a:solidFill>
                          <a:latin typeface="Arial"/>
                        </a:rPr>
                        <a:t>מחוברות ואמון</a:t>
                      </a:r>
                    </a:p>
                  </a:txBody>
                  <a:tcPr anchor="ctr">
                    <a:solidFill>
                      <a:srgbClr val="161616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r" rtl="1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תיעוד</a:t>
                      </a:r>
                    </a:p>
                  </a:txBody>
                  <a:tcPr anchor="ctr"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>
                          <a:solidFill>
                            <a:srgbClr val="FFFFFF"/>
                          </a:solidFill>
                          <a:latin typeface="Arial"/>
                        </a:rPr>
                        <a:t>מסמכים מפוזרים</a:t>
                      </a:r>
                    </a:p>
                  </a:txBody>
                  <a:tcPr anchor="ctr"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>
                          <a:solidFill>
                            <a:srgbClr val="FFFFFF"/>
                          </a:solidFill>
                          <a:latin typeface="Arial"/>
                        </a:rPr>
                        <a:t>תיק עובד מרוכז</a:t>
                      </a:r>
                    </a:p>
                  </a:txBody>
                  <a:tcPr anchor="ctr"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>
                          <a:solidFill>
                            <a:srgbClr val="FFFFFF"/>
                          </a:solidFill>
                          <a:latin typeface="Arial"/>
                        </a:rPr>
                        <a:t>מעקב לאורך מחזורים</a:t>
                      </a:r>
                    </a:p>
                  </a:txBody>
                  <a:tcPr anchor="ctr"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85216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300" b="1">
                <a:solidFill>
                  <a:srgbClr val="F89800"/>
                </a:solidFill>
                <a:latin typeface="Arial"/>
              </a:rPr>
              <a:t>המטרה: לא עוד "מילוי טפסים" — אלא דיאלוג מקצועי שמתועד ומוביל לפעולה.</a:t>
            </a:r>
          </a:p>
        </p:txBody>
      </p:sp>
      <p:pic>
        <p:nvPicPr>
          <p:cNvPr id="9" name="Picture 8" descr="myfxbook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446520"/>
            <a:ext cx="98374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0" y="6446520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rtl="1"/>
            <a:r>
              <a:rPr sz="1100" b="0">
                <a:solidFill>
                  <a:srgbClr val="A8A8A8"/>
                </a:solidFill>
                <a:latin typeface="Arial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2600" b="1">
                <a:solidFill>
                  <a:srgbClr val="FFFFFF"/>
                </a:solidFill>
                <a:latin typeface="Arial"/>
              </a:rPr>
              <a:t>מודל המשוב החדש: שני שלבים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300" b="0">
                <a:solidFill>
                  <a:srgbClr val="A8A8A8"/>
                </a:solidFill>
                <a:latin typeface="Arial"/>
              </a:rPr>
              <a:t>הכנה נפרדת · פגישה נפרדת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155680" cy="1905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394960" cy="457200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5875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5394960" cy="640080"/>
          </a:xfrm>
          <a:prstGeom prst="rect">
            <a:avLst/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49377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800" b="1">
                <a:solidFill>
                  <a:srgbClr val="000000"/>
                </a:solidFill>
                <a:latin typeface="Arial"/>
              </a:rPr>
              <a:t>שלב 1 · הכנה ב-PeopleForce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233172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377440"/>
            <a:ext cx="5029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rtl="1"/>
            <a:r>
              <a:rPr sz="1400" b="1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500" b="1">
                <a:solidFill>
                  <a:srgbClr val="FFFFFF"/>
                </a:solidFill>
                <a:latin typeface="Arial"/>
              </a:rPr>
              <a:t>מילוי לבד ובנחת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4114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300" b="0">
                <a:solidFill>
                  <a:srgbClr val="A8A8A8"/>
                </a:solidFill>
                <a:latin typeface="Arial"/>
              </a:rPr>
              <a:t>הערכה מובנית לפני הפגישה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338328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3429000"/>
            <a:ext cx="5029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rtl="1"/>
            <a:r>
              <a:rPr sz="1400" b="1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38328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500" b="1">
                <a:solidFill>
                  <a:srgbClr val="FFFFFF"/>
                </a:solidFill>
                <a:latin typeface="Arial"/>
              </a:rPr>
              <a:t>מיקוד כפול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4114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300" b="0">
                <a:solidFill>
                  <a:srgbClr val="A8A8A8"/>
                </a:solidFill>
                <a:latin typeface="Arial"/>
              </a:rPr>
              <a:t>שימור + שיפור — עם דוגמאות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443484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4480560"/>
            <a:ext cx="5029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rtl="1"/>
            <a:r>
              <a:rPr sz="1400" b="1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500" b="1">
                <a:solidFill>
                  <a:srgbClr val="FFFFFF"/>
                </a:solidFill>
                <a:latin typeface="Arial"/>
              </a:rPr>
              <a:t>הגעה מוכנים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54880"/>
            <a:ext cx="4114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300" b="0">
                <a:solidFill>
                  <a:srgbClr val="A8A8A8"/>
                </a:solidFill>
                <a:latin typeface="Arial"/>
              </a:rPr>
              <a:t>בלי שליפות מהמותן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1417320"/>
            <a:ext cx="5394960" cy="457200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5875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1417320"/>
            <a:ext cx="53949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554480"/>
            <a:ext cx="49377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800" b="1">
                <a:solidFill>
                  <a:srgbClr val="000000"/>
                </a:solidFill>
                <a:latin typeface="Arial"/>
              </a:rPr>
              <a:t>שלב 2 · פגישה בארבע עיניים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744200" y="233172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44200" y="2377440"/>
            <a:ext cx="5029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rtl="1"/>
            <a:r>
              <a:rPr sz="1400" b="1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3172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500" b="1">
                <a:solidFill>
                  <a:srgbClr val="FFFFFF"/>
                </a:solidFill>
                <a:latin typeface="Arial"/>
              </a:rPr>
              <a:t>שיחה — לא טפסים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651760"/>
            <a:ext cx="4114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300" b="0">
                <a:solidFill>
                  <a:srgbClr val="A8A8A8"/>
                </a:solidFill>
                <a:latin typeface="Arial"/>
              </a:rPr>
              <a:t>פנים אל פנים, מכבד ומעצים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744200" y="338328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44200" y="3429000"/>
            <a:ext cx="5029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rtl="1"/>
            <a:r>
              <a:rPr sz="1400" b="1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38328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500" b="1">
                <a:solidFill>
                  <a:srgbClr val="FFFFFF"/>
                </a:solidFill>
                <a:latin typeface="Arial"/>
              </a:rPr>
              <a:t>הקשבה אמיתית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703320"/>
            <a:ext cx="4114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300" b="0">
                <a:solidFill>
                  <a:srgbClr val="A8A8A8"/>
                </a:solidFill>
                <a:latin typeface="Arial"/>
              </a:rPr>
              <a:t>מה העובד רוצה לשפר / לקבל?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744200" y="443484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44200" y="4480560"/>
            <a:ext cx="5029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rtl="1"/>
            <a:r>
              <a:rPr sz="1400" b="1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43484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500" b="1">
                <a:solidFill>
                  <a:srgbClr val="FFFFFF"/>
                </a:solidFill>
                <a:latin typeface="Arial"/>
              </a:rPr>
              <a:t>סגירת הסכמות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754880"/>
            <a:ext cx="4114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300" b="0">
                <a:solidFill>
                  <a:srgbClr val="A8A8A8"/>
                </a:solidFill>
                <a:latin typeface="Arial"/>
              </a:rPr>
              <a:t>תוכנית פעולה עם יעדים מדידים</a:t>
            </a:r>
          </a:p>
        </p:txBody>
      </p:sp>
      <p:pic>
        <p:nvPicPr>
          <p:cNvPr id="37" name="Picture 36" descr="myfxbook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446520"/>
            <a:ext cx="983742" cy="25603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601200" y="6446520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rtl="1"/>
            <a:r>
              <a:rPr sz="1100" b="0">
                <a:solidFill>
                  <a:srgbClr val="A8A8A8"/>
                </a:solidFill>
                <a:latin typeface="Arial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2600" b="1">
                <a:solidFill>
                  <a:srgbClr val="FFFFFF"/>
                </a:solidFill>
                <a:latin typeface="Arial"/>
              </a:rPr>
              <a:t>שגרת הניהול והמשוב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300" b="0">
                <a:solidFill>
                  <a:srgbClr val="A8A8A8"/>
                </a:solidFill>
                <a:latin typeface="Arial"/>
              </a:rPr>
              <a:t>מעגל רציף המותאם לארגון שלנו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155680" cy="1905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828800"/>
            <a:ext cx="2606040" cy="329184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5875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34440" y="2057400"/>
            <a:ext cx="8686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194560"/>
            <a:ext cx="868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800" b="1">
                <a:solidFill>
                  <a:srgbClr val="000000"/>
                </a:solidFill>
                <a:latin typeface="Arial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54680"/>
            <a:ext cx="2331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400" b="1">
                <a:solidFill>
                  <a:srgbClr val="FFFFFF"/>
                </a:solidFill>
                <a:latin typeface="Arial"/>
              </a:rPr>
              <a:t>מעקב והסרת חסמים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86200"/>
            <a:ext cx="23317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200" b="0">
                <a:solidFill>
                  <a:srgbClr val="A8A8A8"/>
                </a:solidFill>
                <a:latin typeface="Arial"/>
              </a:rPr>
              <a:t>בדיקת התקדמות ותמיכה במימוש.</a:t>
            </a:r>
          </a:p>
        </p:txBody>
      </p:sp>
      <p:sp>
        <p:nvSpPr>
          <p:cNvPr id="12" name="Left Arrow 11"/>
          <p:cNvSpPr/>
          <p:nvPr/>
        </p:nvSpPr>
        <p:spPr>
          <a:xfrm>
            <a:off x="3017520" y="3200400"/>
            <a:ext cx="320040" cy="320040"/>
          </a:xfrm>
          <a:prstGeom prst="leftArrow">
            <a:avLst/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91840" y="1828800"/>
            <a:ext cx="2606040" cy="329184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5875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60520" y="2057400"/>
            <a:ext cx="868680" cy="868680"/>
          </a:xfrm>
          <a:prstGeom prst="roundRect">
            <a:avLst>
              <a:gd name="adj" fmla="val 8000"/>
            </a:avLst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2194560"/>
            <a:ext cx="868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800" b="1">
                <a:solidFill>
                  <a:srgbClr val="000000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154680"/>
            <a:ext cx="2331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400" b="1">
                <a:solidFill>
                  <a:srgbClr val="FFFFFF"/>
                </a:solidFill>
                <a:latin typeface="Arial"/>
              </a:rPr>
              <a:t>פגישת דיאלוג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886200"/>
            <a:ext cx="23317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200" b="0">
                <a:solidFill>
                  <a:srgbClr val="A8A8A8"/>
                </a:solidFill>
                <a:latin typeface="Arial"/>
              </a:rPr>
              <a:t>פידבק, הקשבה וסגירת יעדים.</a:t>
            </a:r>
          </a:p>
        </p:txBody>
      </p:sp>
      <p:sp>
        <p:nvSpPr>
          <p:cNvPr id="18" name="Left Arrow 17"/>
          <p:cNvSpPr/>
          <p:nvPr/>
        </p:nvSpPr>
        <p:spPr>
          <a:xfrm>
            <a:off x="5943600" y="3200400"/>
            <a:ext cx="320040" cy="320040"/>
          </a:xfrm>
          <a:prstGeom prst="leftArrow">
            <a:avLst/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1828800"/>
            <a:ext cx="2606040" cy="329184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5875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086600" y="2057400"/>
            <a:ext cx="8686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2194560"/>
            <a:ext cx="868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800" b="1">
                <a:solidFill>
                  <a:srgbClr val="000000"/>
                </a:solidFill>
                <a:latin typeface="Arial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154680"/>
            <a:ext cx="2331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400" b="1">
                <a:solidFill>
                  <a:srgbClr val="FFFFFF"/>
                </a:solidFill>
                <a:latin typeface="Arial"/>
              </a:rPr>
              <a:t>הכנה ב-PeopleForce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886200"/>
            <a:ext cx="23317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200" b="0">
                <a:solidFill>
                  <a:srgbClr val="A8A8A8"/>
                </a:solidFill>
                <a:latin typeface="Arial"/>
              </a:rPr>
              <a:t>הערכה: נקודות לשימור ולשיפור.</a:t>
            </a:r>
          </a:p>
        </p:txBody>
      </p:sp>
      <p:sp>
        <p:nvSpPr>
          <p:cNvPr id="24" name="Left Arrow 23"/>
          <p:cNvSpPr/>
          <p:nvPr/>
        </p:nvSpPr>
        <p:spPr>
          <a:xfrm>
            <a:off x="8869680" y="3200400"/>
            <a:ext cx="320040" cy="320040"/>
          </a:xfrm>
          <a:prstGeom prst="leftArrow">
            <a:avLst/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0" y="1828800"/>
            <a:ext cx="2606040" cy="329184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5875">
            <a:solidFill>
              <a:srgbClr val="F8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12680" y="2057400"/>
            <a:ext cx="868680" cy="868680"/>
          </a:xfrm>
          <a:prstGeom prst="roundRect">
            <a:avLst>
              <a:gd name="adj" fmla="val 8000"/>
            </a:avLst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12680" y="2194560"/>
            <a:ext cx="868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800" b="1">
                <a:solidFill>
                  <a:srgbClr val="000000"/>
                </a:solidFill>
                <a:latin typeface="Arial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3154680"/>
            <a:ext cx="2331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400" b="1">
                <a:solidFill>
                  <a:srgbClr val="FFFFFF"/>
                </a:solidFill>
                <a:latin typeface="Arial"/>
              </a:rPr>
              <a:t>התרעה בזמן אמת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3886200"/>
            <a:ext cx="23317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200" b="0">
                <a:solidFill>
                  <a:srgbClr val="A8A8A8"/>
                </a:solidFill>
                <a:latin typeface="Arial"/>
              </a:rPr>
              <a:t>פער? מיקרו-משוב של 3 דק' באותו יום.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440680"/>
            <a:ext cx="11155680" cy="64008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577840"/>
            <a:ext cx="10698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400" b="1">
                <a:solidFill>
                  <a:srgbClr val="F89800"/>
                </a:solidFill>
                <a:latin typeface="Arial"/>
              </a:rPr>
              <a:t>המעגל לא נעצר אחרי הפגישה — מעקב והסרת חסמים הם חלק מהשגרה.</a:t>
            </a:r>
          </a:p>
        </p:txBody>
      </p:sp>
      <p:pic>
        <p:nvPicPr>
          <p:cNvPr id="32" name="Picture 31" descr="myfxbook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446520"/>
            <a:ext cx="983742" cy="25603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601200" y="6446520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rtl="1"/>
            <a:r>
              <a:rPr sz="1100" b="0">
                <a:solidFill>
                  <a:srgbClr val="A8A8A8"/>
                </a:solidFill>
                <a:latin typeface="Arial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2600" b="1">
                <a:solidFill>
                  <a:srgbClr val="FFFFFF"/>
                </a:solidFill>
                <a:latin typeface="Arial"/>
              </a:rPr>
              <a:t>האימפקט של התרעה מוקדמת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300" b="0">
                <a:solidFill>
                  <a:srgbClr val="A8A8A8"/>
                </a:solidFill>
                <a:latin typeface="Arial"/>
              </a:rPr>
              <a:t>למה משוב מוקדם ומסודר שומר על הצוות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155680" cy="1905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3840480" cy="448056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5875">
            <a:solidFill>
              <a:srgbClr val="F8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33832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7200" b="1">
                <a:solidFill>
                  <a:srgbClr val="F89800"/>
                </a:solidFill>
                <a:latin typeface="Arial"/>
              </a:rPr>
              <a:t>3×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33832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500" b="0">
                <a:solidFill>
                  <a:srgbClr val="E8E8E8"/>
                </a:solidFill>
                <a:latin typeface="Arial"/>
              </a:rPr>
              <a:t>ירידה צפויה</a:t>
            </a:r>
          </a:p>
          <a:p>
            <a:pPr algn="ctr" rtl="1"/>
            <a:r>
              <a:rPr sz="1500" b="0">
                <a:solidFill>
                  <a:srgbClr val="E8E8E8"/>
                </a:solidFill>
                <a:latin typeface="Arial"/>
              </a:rPr>
              <a:t>באירועי שריפה ומשבר</a:t>
            </a:r>
          </a:p>
          <a:p>
            <a:pPr algn="ctr" rtl="1"/>
            <a:r>
              <a:rPr sz="1500" b="0">
                <a:solidFill>
                  <a:srgbClr val="E8E8E8"/>
                </a:solidFill>
                <a:latin typeface="Arial"/>
              </a:rPr>
              <a:t>כשמטפלים ביום היווצרות הפער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572000" y="1417320"/>
          <a:ext cx="704088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572000" y="4709160"/>
            <a:ext cx="7040880" cy="118872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4846320"/>
            <a:ext cx="6583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400" b="0">
                <a:solidFill>
                  <a:srgbClr val="E8E8E8"/>
                </a:solidFill>
                <a:latin typeface="Arial"/>
              </a:rPr>
              <a:t>מניעה במקום כיבוי + אקלים בטוח ושקוף =</a:t>
            </a:r>
          </a:p>
          <a:p>
            <a:pPr algn="r" rtl="1"/>
            <a:r>
              <a:rPr sz="1400" b="0">
                <a:solidFill>
                  <a:srgbClr val="E8E8E8"/>
                </a:solidFill>
                <a:latin typeface="Arial"/>
              </a:rPr>
              <a:t>ביצועים גבוהים בצוות המאוחד, בלי שחיקה מיותרת.</a:t>
            </a:r>
          </a:p>
        </p:txBody>
      </p:sp>
      <p:pic>
        <p:nvPicPr>
          <p:cNvPr id="13" name="Picture 12" descr="myfxbook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46520"/>
            <a:ext cx="983742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0" y="6446520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rtl="1"/>
            <a:r>
              <a:rPr sz="1100" b="0">
                <a:solidFill>
                  <a:srgbClr val="A8A8A8"/>
                </a:solidFill>
                <a:latin typeface="Arial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2600" b="1">
                <a:solidFill>
                  <a:srgbClr val="FFFFFF"/>
                </a:solidFill>
                <a:latin typeface="Arial"/>
              </a:rPr>
              <a:t>כללי זהב לנקודות לשיפור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300" b="0">
                <a:solidFill>
                  <a:srgbClr val="A8A8A8"/>
                </a:solidFill>
                <a:latin typeface="Arial"/>
              </a:rPr>
              <a:t>איך מעבירים ביקורת בצורה בונה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155680" cy="1905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5875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05740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67128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400" b="1">
                <a:solidFill>
                  <a:srgbClr val="000000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828800"/>
            <a:ext cx="3931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800" b="1">
                <a:solidFill>
                  <a:srgbClr val="FFFFFF"/>
                </a:solidFill>
                <a:latin typeface="Arial"/>
              </a:rPr>
              <a:t>פרטיות וכבוד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423160"/>
            <a:ext cx="39319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400" b="0">
                <a:solidFill>
                  <a:srgbClr val="A8A8A8"/>
                </a:solidFill>
                <a:latin typeface="Arial"/>
              </a:rPr>
              <a:t>תמיד בארבע עיניים — לעולם לא בפורום צוותי.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41732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5875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205740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67128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400" b="1">
                <a:solidFill>
                  <a:srgbClr val="000000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828800"/>
            <a:ext cx="3931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800" b="1">
                <a:solidFill>
                  <a:srgbClr val="FFFFFF"/>
                </a:solidFill>
                <a:latin typeface="Arial"/>
              </a:rPr>
              <a:t>הפרדה מאדם למעשה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423160"/>
            <a:ext cx="39319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400" b="0">
                <a:solidFill>
                  <a:srgbClr val="A8A8A8"/>
                </a:solidFill>
                <a:latin typeface="Arial"/>
              </a:rPr>
              <a:t>מבקרים תוצר או מתודולוגיה — לא את האישיות.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4048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5875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448056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590288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400" b="1">
                <a:solidFill>
                  <a:srgbClr val="000000"/>
                </a:solidFill>
                <a:latin typeface="Arial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251960"/>
            <a:ext cx="3931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800" b="1">
                <a:solidFill>
                  <a:srgbClr val="FFFFFF"/>
                </a:solidFill>
                <a:latin typeface="Arial"/>
              </a:rPr>
              <a:t>שאלות פתוחות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846320"/>
            <a:ext cx="39319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400" b="0">
                <a:solidFill>
                  <a:srgbClr val="A8A8A8"/>
                </a:solidFill>
                <a:latin typeface="Arial"/>
              </a:rPr>
              <a:t>"מה עבד טוב? מה פחות? איך הרגשת עם המשימה?"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384048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 w="15875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448056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590288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400" b="1">
                <a:solidFill>
                  <a:srgbClr val="000000"/>
                </a:solidFill>
                <a:latin typeface="Arial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251960"/>
            <a:ext cx="3931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800" b="1">
                <a:solidFill>
                  <a:srgbClr val="FFFFFF"/>
                </a:solidFill>
                <a:latin typeface="Arial"/>
              </a:rPr>
              <a:t>צעדים וליווי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846320"/>
            <a:ext cx="39319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400" b="0">
                <a:solidFill>
                  <a:srgbClr val="A8A8A8"/>
                </a:solidFill>
                <a:latin typeface="Arial"/>
              </a:rPr>
              <a:t>"מה הצעד הבא? אילו כלים אני מעמיד לרשותך?"</a:t>
            </a:r>
          </a:p>
        </p:txBody>
      </p:sp>
      <p:pic>
        <p:nvPicPr>
          <p:cNvPr id="27" name="Picture 26" descr="myfxbook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446520"/>
            <a:ext cx="983742" cy="25603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601200" y="6446520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rtl="1"/>
            <a:r>
              <a:rPr sz="1100" b="0">
                <a:solidFill>
                  <a:srgbClr val="A8A8A8"/>
                </a:solidFill>
                <a:latin typeface="Arial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yfxbook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822960"/>
            <a:ext cx="4389120" cy="11423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2194560"/>
            <a:ext cx="99669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2600" b="1">
                <a:solidFill>
                  <a:srgbClr val="FFFFFF"/>
                </a:solidFill>
                <a:latin typeface="Arial"/>
              </a:rPr>
              <a:t>"מנהיגות אמיתית אינה נמדדת בשליטה,</a:t>
            </a:r>
          </a:p>
          <a:p>
            <a:pPr algn="ctr" rtl="1"/>
            <a:r>
              <a:rPr sz="2600" b="1">
                <a:solidFill>
                  <a:srgbClr val="FFFFFF"/>
                </a:solidFill>
                <a:latin typeface="Arial"/>
              </a:rPr>
              <a:t>אלא ביכולת להעצים את האנשים שלך."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023360"/>
            <a:ext cx="2103120" cy="50800"/>
          </a:xfrm>
          <a:prstGeom prst="rect">
            <a:avLst/>
          </a:prstGeom>
          <a:solidFill>
            <a:srgbClr val="F8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94183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500" b="0">
                <a:solidFill>
                  <a:srgbClr val="A8A8A8"/>
                </a:solidFill>
                <a:latin typeface="Arial"/>
              </a:rPr>
              <a:t>מנהלים וראשי צוותים יקרים — המון בהצלחה.</a:t>
            </a:r>
          </a:p>
          <a:p>
            <a:pPr algn="ctr" rtl="1"/>
            <a:r>
              <a:rPr sz="1500" b="0">
                <a:solidFill>
                  <a:srgbClr val="A8A8A8"/>
                </a:solidFill>
                <a:latin typeface="Arial"/>
              </a:rPr>
              <a:t>אתם הכוח המניע של החברה והמפתח לצמיחה של האנשים שלנו.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943600"/>
            <a:ext cx="9418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300" b="0">
                <a:solidFill>
                  <a:srgbClr val="F89800"/>
                </a:solidFill>
                <a:latin typeface="Arial"/>
              </a:rPr>
              <a:t>Myfxbook  ·  פיתוח מנהלים וראשי צוותים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